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-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4213D"/>
                </a:solidFill>
                <a:latin typeface="Arial"/>
              </a:rPr>
              <a:t>Revenue per car (sample)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Swift</c:v>
                </c:pt>
                <c:pt idx="1">
                  <c:v>Creta</c:v>
                </c:pt>
                <c:pt idx="2">
                  <c:v>Innova</c:v>
                </c:pt>
                <c:pt idx="3">
                  <c:v>City</c:v>
                </c:pt>
                <c:pt idx="4">
                  <c:v>Nexon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9800</c:v>
                </c:pt>
                <c:pt idx="1">
                  <c:v>14200</c:v>
                </c:pt>
                <c:pt idx="2">
                  <c:v>11500</c:v>
                </c:pt>
                <c:pt idx="3">
                  <c:v>6300</c:v>
                </c:pt>
                <c:pt idx="4">
                  <c:v>6800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07-405E-BF06-5C852FF23F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63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B2E5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0E9AA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" cy="141732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  |  DBMS Course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188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&amp; Return System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2560320" cy="777240"/>
          </a:xfrm>
          <a:prstGeom prst="roundRect">
            <a:avLst/>
          </a:prstGeom>
          <a:solidFill>
            <a:srgbClr val="1B2E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Varshith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25WU0101087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697480"/>
            <a:ext cx="2560320" cy="777240"/>
          </a:xfrm>
          <a:prstGeom prst="roundRect">
            <a:avLst/>
          </a:prstGeom>
          <a:solidFill>
            <a:srgbClr val="1B2E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Sharjeel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25WU0101076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697480"/>
            <a:ext cx="2560320" cy="777240"/>
          </a:xfrm>
          <a:prstGeom prst="roundRect">
            <a:avLst/>
          </a:prstGeom>
          <a:solidFill>
            <a:srgbClr val="1B2E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Vishnu Vivekananth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25WU0101067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36576"/>
          </a:xfrm>
          <a:prstGeom prst="rect">
            <a:avLst/>
          </a:prstGeom>
          <a:solidFill>
            <a:srgbClr val="2B3F6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023360"/>
            <a:ext cx="3291840" cy="640080"/>
          </a:xfrm>
          <a:prstGeom prst="roundRect">
            <a:avLst/>
          </a:prstGeom>
          <a:solidFill>
            <a:srgbClr val="FCA31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3520440"/>
            <a:ext cx="1737360" cy="685800"/>
          </a:xfrm>
          <a:prstGeom prst="roundRect">
            <a:avLst/>
          </a:prstGeom>
          <a:solidFill>
            <a:srgbClr val="FCA31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3611880"/>
            <a:ext cx="731520" cy="457200"/>
          </a:xfrm>
          <a:prstGeom prst="roundRect">
            <a:avLst/>
          </a:prstGeom>
          <a:solidFill>
            <a:srgbClr val="CFE8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611880"/>
            <a:ext cx="640080" cy="457200"/>
          </a:xfrm>
          <a:prstGeom prst="roundRect">
            <a:avLst/>
          </a:prstGeom>
          <a:solidFill>
            <a:srgbClr val="CFE8F5"/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0" y="438912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16168" y="4544568"/>
            <a:ext cx="237744" cy="237744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438912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70648" y="4544568"/>
            <a:ext cx="237744" cy="237744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4160520"/>
            <a:ext cx="228600" cy="164592"/>
          </a:xfrm>
          <a:prstGeom prst="roundRect">
            <a:avLst/>
          </a:prstGeom>
          <a:solidFill>
            <a:srgbClr val="FFF3B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463040" y="1188720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91640" y="1188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objectives, scope, users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463040" y="1901952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691640" y="1901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Schema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901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keys, relationships, 3NF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2615184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463040" y="2615184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691640" y="26151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Queries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26151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insert, joins, aggregates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3328416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463040" y="3328416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691640" y="33284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Demo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284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delete, view records live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31520" y="4041648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152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1463040" y="4041648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91640" y="4041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4041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about any part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| Problem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rental shops track bookings and returns on paper or spreadsheets. This leads to: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26517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828800"/>
            <a:ext cx="26517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car reserved for overlapping dates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91840" y="1828800"/>
            <a:ext cx="26517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3291840" y="1828800"/>
            <a:ext cx="26517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42900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Returns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when or how a car came back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828800"/>
            <a:ext cx="26517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6480" y="1828800"/>
            <a:ext cx="265176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Billing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fees and damages missed or miscalculated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331720" y="1965960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2066544"/>
            <a:ext cx="301752" cy="30175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166360" y="196596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066544"/>
            <a:ext cx="301752" cy="30175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001000" y="19659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2066544"/>
            <a:ext cx="301752" cy="30175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57200" y="3611880"/>
            <a:ext cx="8229600" cy="1005840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MySQL-backed system that manages cars, customers, reservations, returns and payments in one place, with a simple UI.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Users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| Problem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188720"/>
            <a:ext cx="26517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55648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Store car and customer data centrally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Prevent double booking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Record returns, late fees, damages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Track advance and final payments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Generate revenue and usage reports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Keep data accurate with constraints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6120" y="1188720"/>
            <a:ext cx="26517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8328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1755648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Car inventory and availability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Reservation create / cancel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Return inspection and fees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Payment records and receipts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Reports: revenue, overdue, top customers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Out of scope: online payment gateway, GPS tracking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035040" y="1188720"/>
            <a:ext cx="2651760" cy="6400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7220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1755648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Admin: manages cars, rates, reports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Counter staff: bookings, returns, payments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Customers: rent cars through staff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DBMS? Shared data, no duplication, integrity, fast queries.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6367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291840" y="123444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3474720" y="150876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16367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5196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42519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26480" y="123444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16367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Links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" y="297180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337413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36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3291840" y="297180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3474720" y="32461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2736" y="337413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5196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33" name="Text 25"/>
          <p:cNvSpPr txBox="1"/>
          <p:nvPr/>
        </p:nvSpPr>
        <p:spPr>
          <a:xfrm>
            <a:off x="425196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Actions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126480" y="297180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5" name="Shape 27"/>
          <p:cNvSpPr/>
          <p:nvPr/>
        </p:nvSpPr>
        <p:spPr>
          <a:xfrm>
            <a:off x="6309360" y="324612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6" y="337413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8660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38" name="Text 29"/>
          <p:cNvSpPr txBox="1"/>
          <p:nvPr/>
        </p:nvSpPr>
        <p:spPr>
          <a:xfrm>
            <a:off x="708660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Types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of a Rental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680960" cy="54864"/>
          </a:xfrm>
          <a:prstGeom prst="rect">
            <a:avLst/>
          </a:prstGeom>
          <a:solidFill>
            <a:srgbClr val="CCD3DB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0025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sits free in the lot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560320" y="187452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336" y="20025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19456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19456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books Swift, 4-8 Oct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251960" y="187452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0025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8620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388620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Pickup: status Active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943600" y="187452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200253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5778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57784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 / damage added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635240" y="18745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2002536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6948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26948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row saved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57200" y="3931920"/>
            <a:ext cx="8229600" cy="685800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updates the Car.status and adds rows to Reservation, Car_Return and Payment.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783080"/>
            <a:ext cx="1188720" cy="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1783080"/>
            <a:ext cx="1097280" cy="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2468880"/>
            <a:ext cx="0" cy="91440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3977640"/>
            <a:ext cx="1097280" cy="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188720"/>
            <a:ext cx="2103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1188720"/>
            <a:ext cx="2103120" cy="31089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5760" y="1188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572768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license_no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0" y="118872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0" y="1188720"/>
            <a:ext cx="2194560" cy="3108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57600" y="1188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15727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pickup_date, due_date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49440" y="118872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49440" y="1188720"/>
            <a:ext cx="1828800" cy="31089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49440" y="1188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157276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daily_rate, status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57600" y="33832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31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0" y="3383280"/>
            <a:ext cx="2194560" cy="310896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65760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CAR_RETURN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749040" y="376732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late_fee, damage_charge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949440" y="338328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49440" y="3383280"/>
            <a:ext cx="1828800" cy="31089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49440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376732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pay_date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514600" y="1645920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51460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 1 : 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897880" y="164592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7880" y="1645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N : 1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800600" y="2788920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80060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897880" y="384048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897880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 1 : 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65760" y="3383280"/>
            <a:ext cx="301752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02920" y="345643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participation: Reservation (needs a customer and a car)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Car_Return (only after pickup), Payment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" y="1234440"/>
            <a:ext cx="1600200" cy="4114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2004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2976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license_no UNIQUE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5740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057400" y="1234440"/>
            <a:ext cx="1600200" cy="4114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05740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16712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model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reg_no UNIQUE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9476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3794760" y="1234440"/>
            <a:ext cx="1600200" cy="4114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9476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90448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due_date, status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3212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5532120" y="1234440"/>
            <a:ext cx="1600200" cy="41148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3212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CAR_RETURN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4184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late_fee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damage_charge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6948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3"/>
          <p:cNvSpPr/>
          <p:nvPr/>
        </p:nvSpPr>
        <p:spPr>
          <a:xfrm>
            <a:off x="7269480" y="1234440"/>
            <a:ext cx="1600200" cy="4114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26948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37920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keys: Reservation.customer_id &gt; Customer, Reservation.car_id &gt; Car, Car_Return.reservation_id &gt; Reservation, Payment.reservation_id &gt; Reservation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&amp; Constraints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188720"/>
            <a:ext cx="40233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booking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55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cannot be reserved for overlapping dates. Checked before every insert; car status changes to Reserved / Rented.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1188720"/>
            <a:ext cx="40233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0060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return per reservation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755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Car_Return.reservation_id is UNIQUE. A return can exist only after pickup.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65176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2651760"/>
            <a:ext cx="402336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customers only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218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needs a unique license_no. Reservation needs a valid customer_id and car_id (foreign keys).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265176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4663440" y="2651760"/>
            <a:ext cx="4023360" cy="6400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checks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3218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daily_rate &gt; 0 and due_date &gt;= pickup_date. Payments of 1 or more per reservation (advance + final).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8229600" cy="594360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days x daily_rate + late_fee + damage_charge   |   late_fee = late days x daily_rate x 1.5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up to 3NF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280160"/>
            <a:ext cx="2743200" cy="822960"/>
          </a:xfrm>
          <a:prstGeom prst="homePlate">
            <a:avLst/>
          </a:prstGeom>
          <a:solidFill>
            <a:srgbClr val="0E9AA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331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no repeating groups. Each phone, date and fee is a single value.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743200" cy="822960"/>
          </a:xfrm>
          <a:prstGeom prst="chevron">
            <a:avLst/>
          </a:prstGeom>
          <a:solidFill>
            <a:srgbClr val="FCA3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8328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2331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single-column key, so no partial dependency is possible.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1280160"/>
            <a:ext cx="2743200" cy="822960"/>
          </a:xfrm>
          <a:prstGeom prst="chevron">
            <a:avLst/>
          </a:prstGeom>
          <a:solidFill>
            <a:srgbClr val="1421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331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dependency: car and customer details live only in their own tables.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8229600" cy="8229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storing customer name in Reservation would depend on customer_id, not the reservation key. We keep it in Customer to avoid that.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Table Creation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1887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" y="1261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1261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0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INT PRIMARY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AUTO_INCREMENT,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VARCHAR(15),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VARCHAR(60),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license_no VARCHAR(20) UNIQUE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car_id INT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reg_no VARCHAR(15) UNIQUE,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daily_rate DECIMAL(8,2)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(daily_rate&gt;0));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11887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7" name="Shape 14"/>
          <p:cNvSpPr/>
          <p:nvPr/>
        </p:nvSpPr>
        <p:spPr>
          <a:xfrm>
            <a:off x="4773168" y="1261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4956048" y="1261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5138928" y="1261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reservation_id INT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pickup_date DATE,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due_date DATE,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VARCHAR(10),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(customer_id)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Customer(customer_id),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(car_id)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Car(car_id),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(due_date&gt;=pickup_date)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&amp; SELECT Queries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4572000" cy="1097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188720"/>
            <a:ext cx="45720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" y="1261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1261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0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min. 5 records per table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</a:t>
            </a: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(1,'Swift','TS09AB1234',1800);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423160"/>
            <a:ext cx="4572000" cy="2286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6" name="Shape 13"/>
          <p:cNvSpPr/>
          <p:nvPr/>
        </p:nvSpPr>
        <p:spPr>
          <a:xfrm>
            <a:off x="365760" y="2423160"/>
            <a:ext cx="45720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7" name="Shape 14"/>
          <p:cNvSpPr/>
          <p:nvPr/>
        </p:nvSpPr>
        <p:spPr>
          <a:xfrm>
            <a:off x="475488" y="249631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" y="249631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841248" y="249631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27889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c.name, car.reg_no, r.due_date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 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c USING(customer_id)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car USING(car_id)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r.status='Active';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AGGREGATE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car_id, SUM(amount)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GROUP BY car_id;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(replace with your real result)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508760"/>
          <a:ext cx="3657600" cy="1036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TS09AB1234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TS10CD5678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TS08EF9012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5120640" y="3108960"/>
            <a:ext cx="36576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0"/>
          <p:cNvSpPr/>
          <p:nvPr/>
        </p:nvSpPr>
        <p:spPr>
          <a:xfrm>
            <a:off x="5120640" y="3108960"/>
            <a:ext cx="365760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25780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 live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257800" y="36758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database, tables, inserts, then joins and aggregates (COUNT, SUM, GROUP BY).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Queries We Run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 the rental shop asks, answered with SQL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417320"/>
            <a:ext cx="4114800" cy="1554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4173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" y="14904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" y="14904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" y="14904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17830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Cars available now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WHERE status='Available';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Overdue rentals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reservation_id FROM Reservation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due_date&lt;CURDATE() AND status='Active';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1417320"/>
            <a:ext cx="4114800" cy="1554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0" y="14173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8" name="Shape 15"/>
          <p:cNvSpPr/>
          <p:nvPr/>
        </p:nvSpPr>
        <p:spPr>
          <a:xfrm>
            <a:off x="4773168" y="14904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4956048" y="14904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138928" y="14904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17830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Top customers by spend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c.name, SUM(p.amount) AS spent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c JOIN Reservation r USING(customer_id)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Payment p USING(reservation_id)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 </a:t>
            </a: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spent DESC;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3063240"/>
            <a:ext cx="4114800" cy="16916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06324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24" name="Shape 21"/>
          <p:cNvSpPr/>
          <p:nvPr/>
        </p:nvSpPr>
        <p:spPr>
          <a:xfrm>
            <a:off x="475488" y="31363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2"/>
          <p:cNvSpPr/>
          <p:nvPr/>
        </p:nvSpPr>
        <p:spPr>
          <a:xfrm>
            <a:off x="658368" y="31363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3"/>
          <p:cNvSpPr/>
          <p:nvPr/>
        </p:nvSpPr>
        <p:spPr>
          <a:xfrm>
            <a:off x="841248" y="31363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34290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-- 4. Average rental length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AVG(DATEDIFF(due_date,pickup_date))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-- 5. Cars never rented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FROM Car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 NOT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car_id FROM Reservation);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63440" y="3108960"/>
            <a:ext cx="41148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3440" y="3108960"/>
            <a:ext cx="411480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800600" y="3273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covered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800600" y="36758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(inner), GROUP BY, ORDER BY, SUM, AVG, COUNT, DATEDIFF, subquery (NOT IN), WHERE filters.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What the Data Tells Us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325880" cy="9144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1261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48,600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74520" y="1188720"/>
            <a:ext cx="1325880" cy="9144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74520" y="1261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87452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Rentals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1188720"/>
            <a:ext cx="1325880" cy="9144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91840" y="1261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Returns</a:t>
            </a:r>
            <a:endParaRPr lang="en-US" sz="10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663440" y="109728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2331720"/>
            <a:ext cx="4023360" cy="2240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" y="2331720"/>
            <a:ext cx="402336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21" name="Shape 17"/>
          <p:cNvSpPr/>
          <p:nvPr/>
        </p:nvSpPr>
        <p:spPr>
          <a:xfrm>
            <a:off x="566928" y="2404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8"/>
          <p:cNvSpPr/>
          <p:nvPr/>
        </p:nvSpPr>
        <p:spPr>
          <a:xfrm>
            <a:off x="749808" y="2404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9"/>
          <p:cNvSpPr/>
          <p:nvPr/>
        </p:nvSpPr>
        <p:spPr>
          <a:xfrm>
            <a:off x="932688" y="2404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0080" y="26974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car.model, SUM(p.amount)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 r USING(reservation_id)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car USING(car_id)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car.model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SUM(p.amount) DESC;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Demo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|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26517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D3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New Reservation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17830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Ravi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2402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Car: Swift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Pickup: 04-10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546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08-10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97280" y="3657600"/>
            <a:ext cx="1188720" cy="329184"/>
          </a:xfrm>
          <a:prstGeom prst="roundRect">
            <a:avLst/>
          </a:prstGeom>
          <a:solidFill>
            <a:srgbClr val="0E9AA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9728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0" y="1188720"/>
            <a:ext cx="26517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D3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0" y="1188720"/>
            <a:ext cx="265176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29184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Cancel Reservation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37560" y="17830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4290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1004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37560" y="22402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4290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Anita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337560" y="26974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290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37560" y="31546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4290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931920" y="3657600"/>
            <a:ext cx="1188720" cy="329184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93192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35040" y="1188720"/>
            <a:ext cx="26517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D3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12648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All Reservations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172200" y="17830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2636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  Ravi   Active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172200" y="22402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2636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  Anita  Returned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263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  Kiran  Active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172200" y="31546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2636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  Sana   Active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766560" y="3657600"/>
            <a:ext cx="1188720" cy="329184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76656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1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B0738A0-BBEA-4F93-AE80-F920AD1E9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19"/>
            <a:ext cx="2697480" cy="245920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FA84D03-1C2B-4F0F-BD2D-C557DA1B1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645918"/>
            <a:ext cx="2651760" cy="245920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CFB9FCC-367A-46D7-9384-5509C2F4E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645918"/>
            <a:ext cx="2651760" cy="24688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Workflow &amp; Tech Stack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|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1783080" cy="777240"/>
          </a:xfrm>
          <a:prstGeom prst="homePlate">
            <a:avLst/>
          </a:prstGeom>
          <a:solidFill>
            <a:srgbClr val="0E9AA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57400" y="1234440"/>
            <a:ext cx="1783080" cy="777240"/>
          </a:xfrm>
          <a:prstGeom prst="chevron">
            <a:avLst/>
          </a:prstGeom>
          <a:solidFill>
            <a:srgbClr val="1421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28600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94760" y="1234440"/>
            <a:ext cx="1783080" cy="777240"/>
          </a:xfrm>
          <a:prstGeom prst="chevron">
            <a:avLst/>
          </a:prstGeom>
          <a:solidFill>
            <a:srgbClr val="0E9AA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02336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532120" y="1234440"/>
            <a:ext cx="1783080" cy="777240"/>
          </a:xfrm>
          <a:prstGeom prst="chevron">
            <a:avLst/>
          </a:prstGeom>
          <a:solidFill>
            <a:srgbClr val="FCA3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6072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69480" y="1234440"/>
            <a:ext cx="1783080" cy="777240"/>
          </a:xfrm>
          <a:prstGeom prst="chevron">
            <a:avLst/>
          </a:prstGeom>
          <a:solidFill>
            <a:srgbClr val="1421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9808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2560320"/>
            <a:ext cx="265176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2560320"/>
            <a:ext cx="26517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3127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91840" y="2560320"/>
            <a:ext cx="265176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3291840" y="2560320"/>
            <a:ext cx="26517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42900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429000" y="3127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Python GUI</a:t>
            </a:r>
          </a:p>
        </p:txBody>
      </p:sp>
      <p:sp>
        <p:nvSpPr>
          <p:cNvPr id="27" name="Shape 24"/>
          <p:cNvSpPr/>
          <p:nvPr/>
        </p:nvSpPr>
        <p:spPr>
          <a:xfrm>
            <a:off x="6126480" y="2560320"/>
            <a:ext cx="265176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6126480" y="2560320"/>
            <a:ext cx="2651760" cy="6400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6364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3127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(python-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-connector)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188720"/>
            <a:ext cx="393192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5564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Normalized 3NF schema, 5 tables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Constraints prevent bad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Join and aggregate reports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Working UI: insert, delete, view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1188720"/>
            <a:ext cx="40233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0060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755648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Online payment gateway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/ SMS reminders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Role-based login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Revenue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B2E5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0E9AA7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1616</Words>
  <Application>Microsoft Office PowerPoint</Application>
  <PresentationFormat>On-screen Show 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sharjeel9732@outlook.com</cp:lastModifiedBy>
  <cp:revision>2</cp:revision>
  <dcterms:created xsi:type="dcterms:W3CDTF">2026-10-04T11:15:17Z</dcterms:created>
  <dcterms:modified xsi:type="dcterms:W3CDTF">2026-10-05T17:41:42Z</dcterms:modified>
</cp:coreProperties>
</file>