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77" y="1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4213D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4213D"/>
                </a:solidFill>
                <a:latin typeface="Arial"/>
              </a:rPr>
              <a:t>Revenue per car (sample)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0E9AA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Swift</c:v>
                </c:pt>
                <c:pt idx="1">
                  <c:v>Creta</c:v>
                </c:pt>
                <c:pt idx="2">
                  <c:v>Innova</c:v>
                </c:pt>
                <c:pt idx="3">
                  <c:v>City</c:v>
                </c:pt>
                <c:pt idx="4">
                  <c:v>Nexon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9800</c:v>
                </c:pt>
                <c:pt idx="1">
                  <c:v>14200</c:v>
                </c:pt>
                <c:pt idx="2">
                  <c:v>11500</c:v>
                </c:pt>
                <c:pt idx="3">
                  <c:v>6300</c:v>
                </c:pt>
                <c:pt idx="4">
                  <c:v>6800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07-405E-BF06-5C852FF23F8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3633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B2E5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E9AA7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34440"/>
            <a:ext cx="109728" cy="141732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7432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7132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Technology  |  DBMS Course Project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18872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RENTAL</a:t>
            </a:r>
            <a:endParaRPr lang="en-US" sz="4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18745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&amp; Return System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331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 Varshith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25WU0101087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4290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Sharjeel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4290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25WU0101076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2697480"/>
            <a:ext cx="2560320" cy="777240"/>
          </a:xfrm>
          <a:prstGeom prst="roundRect">
            <a:avLst/>
          </a:prstGeom>
          <a:solidFill>
            <a:srgbClr val="1B2E5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172200" y="276148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Vishnu Vivekananth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17220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25WU0101067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37760"/>
            <a:ext cx="9144000" cy="36576"/>
          </a:xfrm>
          <a:prstGeom prst="rect">
            <a:avLst/>
          </a:prstGeom>
          <a:solidFill>
            <a:srgbClr val="2B3F6B"/>
          </a:solidFill>
          <a:ln/>
        </p:spPr>
      </p:sp>
      <p:sp>
        <p:nvSpPr>
          <p:cNvPr id="20" name="Shape 18"/>
          <p:cNvSpPr/>
          <p:nvPr/>
        </p:nvSpPr>
        <p:spPr>
          <a:xfrm>
            <a:off x="5120640" y="4023360"/>
            <a:ext cx="3291840" cy="640080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0" y="3520440"/>
            <a:ext cx="1737360" cy="685800"/>
          </a:xfrm>
          <a:prstGeom prst="roundRect">
            <a:avLst/>
          </a:prstGeom>
          <a:solidFill>
            <a:srgbClr val="FCA31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80760" y="3611880"/>
            <a:ext cx="731520" cy="457200"/>
          </a:xfrm>
          <a:prstGeom prst="roundRect">
            <a:avLst/>
          </a:prstGeom>
          <a:solidFill>
            <a:srgbClr val="CFE8F5"/>
          </a:solidFill>
          <a:ln/>
        </p:spPr>
      </p:sp>
      <p:sp>
        <p:nvSpPr>
          <p:cNvPr id="23" name="Shape 21"/>
          <p:cNvSpPr/>
          <p:nvPr/>
        </p:nvSpPr>
        <p:spPr>
          <a:xfrm>
            <a:off x="6903720" y="3611880"/>
            <a:ext cx="640080" cy="457200"/>
          </a:xfrm>
          <a:prstGeom prst="roundRect">
            <a:avLst/>
          </a:prstGeom>
          <a:solidFill>
            <a:srgbClr val="CFE8F5"/>
          </a:solidFill>
          <a:ln/>
        </p:spPr>
      </p:sp>
      <p:sp>
        <p:nvSpPr>
          <p:cNvPr id="24" name="Shape 22"/>
          <p:cNvSpPr/>
          <p:nvPr/>
        </p:nvSpPr>
        <p:spPr>
          <a:xfrm>
            <a:off x="5760720" y="438912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5" name="Shape 23"/>
          <p:cNvSpPr/>
          <p:nvPr/>
        </p:nvSpPr>
        <p:spPr>
          <a:xfrm>
            <a:off x="5916168" y="4544568"/>
            <a:ext cx="237744" cy="237744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6" name="Shape 24"/>
          <p:cNvSpPr/>
          <p:nvPr/>
        </p:nvSpPr>
        <p:spPr>
          <a:xfrm>
            <a:off x="7315200" y="4389120"/>
            <a:ext cx="548640" cy="548640"/>
          </a:xfrm>
          <a:prstGeom prst="ellipse">
            <a:avLst/>
          </a:prstGeom>
          <a:solidFill>
            <a:srgbClr val="111111"/>
          </a:solidFill>
          <a:ln/>
        </p:spPr>
      </p:sp>
      <p:sp>
        <p:nvSpPr>
          <p:cNvPr id="27" name="Shape 25"/>
          <p:cNvSpPr/>
          <p:nvPr/>
        </p:nvSpPr>
        <p:spPr>
          <a:xfrm>
            <a:off x="7470648" y="4544568"/>
            <a:ext cx="237744" cy="237744"/>
          </a:xfrm>
          <a:prstGeom prst="ellipse">
            <a:avLst/>
          </a:prstGeom>
          <a:solidFill>
            <a:srgbClr val="BBBBBB"/>
          </a:solidFill>
          <a:ln/>
        </p:spPr>
      </p:sp>
      <p:sp>
        <p:nvSpPr>
          <p:cNvPr id="28" name="Shape 26"/>
          <p:cNvSpPr/>
          <p:nvPr/>
        </p:nvSpPr>
        <p:spPr>
          <a:xfrm>
            <a:off x="8229600" y="4160520"/>
            <a:ext cx="228600" cy="164592"/>
          </a:xfrm>
          <a:prstGeom prst="roundRect">
            <a:avLst/>
          </a:prstGeom>
          <a:solidFill>
            <a:srgbClr val="FFF3B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1463040" y="1188720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691640" y="1188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Description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11887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Title, objectives, scope, users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31520" y="1901952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31520" y="1901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1463040" y="1901952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1691640" y="1901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 &amp; Schema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4572000" y="1901952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Entities, keys, relationships, 3NF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31520" y="2615184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31520" y="26151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463040" y="2615184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1691640" y="2615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Queries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4572000" y="2615184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insert, joins, aggregates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31520" y="3328416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731520" y="33284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1463040" y="3328416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1691640" y="3328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328416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Insert, delete, view records live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31520" y="4041648"/>
            <a:ext cx="548640" cy="548640"/>
          </a:xfrm>
          <a:prstGeom prst="ellipse">
            <a:avLst/>
          </a:prstGeom>
          <a:solidFill>
            <a:srgbClr val="FCA31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3152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1463040" y="4041648"/>
            <a:ext cx="6949440" cy="54864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1691640" y="4041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0" y="404164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us about any part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rental shops track bookings and returns on paper or spreadsheets. This leads to: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5720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" y="182880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Bookings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9436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car reserved for overlapping dates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329184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Shape 12"/>
          <p:cNvSpPr/>
          <p:nvPr/>
        </p:nvSpPr>
        <p:spPr>
          <a:xfrm>
            <a:off x="3291840" y="182880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42900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Returns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342900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when or how a car came back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126480" y="1828800"/>
            <a:ext cx="2651760" cy="14630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Shape 16"/>
          <p:cNvSpPr/>
          <p:nvPr/>
        </p:nvSpPr>
        <p:spPr>
          <a:xfrm>
            <a:off x="6126480" y="1828800"/>
            <a:ext cx="26517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6263640" y="19933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Billing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6263640" y="2395728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fees and damages missed or miscalculated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2331720" y="1965960"/>
            <a:ext cx="502920" cy="50292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2304" y="2066544"/>
            <a:ext cx="301752" cy="301752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5166360" y="1965960"/>
            <a:ext cx="502920" cy="50292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6944" y="2066544"/>
            <a:ext cx="301752" cy="30175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8001000" y="1965960"/>
            <a:ext cx="502920" cy="50292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01584" y="2066544"/>
            <a:ext cx="301752" cy="301752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457200" y="3611880"/>
            <a:ext cx="8229600" cy="100584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731520" y="361188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solution: a MySQL-backed system that manages cars, customers, reservations, returns and payments in one place, with a simple UI.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&amp; Users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| Problem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Store car and customer data centrally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Prevent double booking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Record returns, late fees, damages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Track advance and final payments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Generate revenue and usage reports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Keep data accurate with constraints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3246120" y="118872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38328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Car inventory and availability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Reservation create / cancel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Return inspection and fees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Payment records and receipts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Reports: revenue, overdue, top customers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Out of scope: online payment gateway, GPS tracking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035040" y="1188720"/>
            <a:ext cx="2651760" cy="329184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6035040" y="1188720"/>
            <a:ext cx="26517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172200" y="13533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Intended Users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1755648"/>
            <a:ext cx="2377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Admin: manages cars, rates, reports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Counter staff: bookings, returns, payments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Customers: rent cars through staff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DBMS? Shared data, no duplication, integrity, fast queries.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at a Glance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" y="150876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163677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29184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5" name="Shape 11"/>
          <p:cNvSpPr/>
          <p:nvPr/>
        </p:nvSpPr>
        <p:spPr>
          <a:xfrm>
            <a:off x="3474720" y="150876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736" y="163677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425196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</a:t>
            </a:r>
            <a:endParaRPr lang="en-US" sz="3600" dirty="0"/>
          </a:p>
        </p:txBody>
      </p:sp>
      <p:sp>
        <p:nvSpPr>
          <p:cNvPr id="18" name="Text 13"/>
          <p:cNvSpPr txBox="1"/>
          <p:nvPr/>
        </p:nvSpPr>
        <p:spPr>
          <a:xfrm>
            <a:off x="425196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26480" y="123444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0" name="Shape 15"/>
          <p:cNvSpPr/>
          <p:nvPr/>
        </p:nvSpPr>
        <p:spPr>
          <a:xfrm>
            <a:off x="6309360" y="150876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7376" y="163677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086600" y="141732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3" name="Text 17"/>
          <p:cNvSpPr txBox="1"/>
          <p:nvPr/>
        </p:nvSpPr>
        <p:spPr>
          <a:xfrm>
            <a:off x="7086600" y="2103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FK Links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5720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25" name="Shape 19"/>
          <p:cNvSpPr/>
          <p:nvPr/>
        </p:nvSpPr>
        <p:spPr>
          <a:xfrm>
            <a:off x="640080" y="324612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8096" y="33741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1732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3600" dirty="0"/>
          </a:p>
        </p:txBody>
      </p:sp>
      <p:sp>
        <p:nvSpPr>
          <p:cNvPr id="28" name="Text 21"/>
          <p:cNvSpPr txBox="1"/>
          <p:nvPr/>
        </p:nvSpPr>
        <p:spPr>
          <a:xfrm>
            <a:off x="141732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329184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0" name="Shape 23"/>
          <p:cNvSpPr/>
          <p:nvPr/>
        </p:nvSpPr>
        <p:spPr>
          <a:xfrm>
            <a:off x="3474720" y="32461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02736" y="3374136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425196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33" name="Text 25"/>
          <p:cNvSpPr txBox="1"/>
          <p:nvPr/>
        </p:nvSpPr>
        <p:spPr>
          <a:xfrm>
            <a:off x="425196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Actions</a:t>
            </a:r>
            <a:endParaRPr lang="en-US" sz="1400" dirty="0"/>
          </a:p>
        </p:txBody>
      </p:sp>
      <p:sp>
        <p:nvSpPr>
          <p:cNvPr id="34" name="Shape 26"/>
          <p:cNvSpPr/>
          <p:nvPr/>
        </p:nvSpPr>
        <p:spPr>
          <a:xfrm>
            <a:off x="6126480" y="2971800"/>
            <a:ext cx="2651760" cy="155448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35" name="Shape 27"/>
          <p:cNvSpPr/>
          <p:nvPr/>
        </p:nvSpPr>
        <p:spPr>
          <a:xfrm>
            <a:off x="6309360" y="324612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37376" y="3374136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7086600" y="3154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38" name="Text 29"/>
          <p:cNvSpPr txBox="1"/>
          <p:nvPr/>
        </p:nvSpPr>
        <p:spPr>
          <a:xfrm>
            <a:off x="70866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Types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of a Rental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31520" y="2148840"/>
            <a:ext cx="7680960" cy="54864"/>
          </a:xfrm>
          <a:prstGeom prst="rect">
            <a:avLst/>
          </a:prstGeom>
          <a:solidFill>
            <a:srgbClr val="CCD3DB"/>
          </a:solidFill>
          <a:ln/>
        </p:spPr>
      </p:sp>
      <p:sp>
        <p:nvSpPr>
          <p:cNvPr id="10" name="Shape 7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20025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0292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50292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sits free in the lot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2560320" y="1874520"/>
            <a:ext cx="640080" cy="640080"/>
          </a:xfrm>
          <a:prstGeom prst="ellipse">
            <a:avLst/>
          </a:prstGeom>
          <a:solidFill>
            <a:srgbClr val="FCA311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88336" y="200253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219456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219456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Ravi books Swift, 4-8 Oct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4251960" y="1874520"/>
            <a:ext cx="640080" cy="640080"/>
          </a:xfrm>
          <a:prstGeom prst="ellipse">
            <a:avLst/>
          </a:prstGeom>
          <a:solidFill>
            <a:srgbClr val="E63946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2002536"/>
            <a:ext cx="384048" cy="38404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88620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Rented</a:t>
            </a:r>
            <a:endParaRPr lang="en-US" sz="1600" dirty="0"/>
          </a:p>
        </p:txBody>
      </p:sp>
      <p:sp>
        <p:nvSpPr>
          <p:cNvPr id="21" name="Text 15"/>
          <p:cNvSpPr txBox="1"/>
          <p:nvPr/>
        </p:nvSpPr>
        <p:spPr>
          <a:xfrm>
            <a:off x="388620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status Active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5943600" y="1874520"/>
            <a:ext cx="640080" cy="640080"/>
          </a:xfrm>
          <a:prstGeom prst="ellipse">
            <a:avLst/>
          </a:prstGeom>
          <a:solidFill>
            <a:srgbClr val="14213D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71616" y="2002536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57784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557784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fee / damage added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635240" y="1874520"/>
            <a:ext cx="640080" cy="64008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63256" y="2002536"/>
            <a:ext cx="384048" cy="38404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269480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</a:t>
            </a:r>
            <a:endParaRPr lang="en-US" sz="1600" dirty="0"/>
          </a:p>
        </p:txBody>
      </p:sp>
      <p:sp>
        <p:nvSpPr>
          <p:cNvPr id="29" name="Text 21"/>
          <p:cNvSpPr txBox="1"/>
          <p:nvPr/>
        </p:nvSpPr>
        <p:spPr>
          <a:xfrm>
            <a:off x="7269480" y="3017520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row saved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457200" y="3931920"/>
            <a:ext cx="8229600" cy="68580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31" name="Text 23"/>
          <p:cNvSpPr txBox="1"/>
          <p:nvPr/>
        </p:nvSpPr>
        <p:spPr>
          <a:xfrm>
            <a:off x="685800" y="393192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updates the Car.status and adds rows to Reservation, Car_Return and Payment.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Diagram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1783080"/>
            <a:ext cx="118872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852160" y="1783080"/>
            <a:ext cx="109728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54880" y="2468880"/>
            <a:ext cx="0" cy="91440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3977640"/>
            <a:ext cx="1097280" cy="0"/>
          </a:xfrm>
          <a:prstGeom prst="line">
            <a:avLst/>
          </a:prstGeom>
          <a:noFill/>
          <a:ln w="28575">
            <a:solidFill>
              <a:srgbClr val="0E9AA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5760" y="1188720"/>
            <a:ext cx="210312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65760" y="1188720"/>
            <a:ext cx="210312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65760" y="11887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1572768"/>
            <a:ext cx="1965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phone, email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license_no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3657600" y="118872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E9AA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657600" y="1188720"/>
            <a:ext cx="2194560" cy="310896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657600" y="118872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3749040" y="157276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pickup_date, due_date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949440" y="118872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49440" y="1188720"/>
            <a:ext cx="182880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6949440" y="1188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040880" y="157276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reg_no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daily_rate, status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3657600" y="3383280"/>
            <a:ext cx="219456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CA311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657600" y="3383280"/>
            <a:ext cx="2194560" cy="310896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3657600" y="3383280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3749040" y="3767328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late_fee, damage_charge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949440" y="3383280"/>
            <a:ext cx="182880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4213D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949440" y="3383280"/>
            <a:ext cx="1828800" cy="310896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694944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7040880" y="3767328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(PK)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(FK)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pay_date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2514600" y="1645920"/>
            <a:ext cx="10972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514600" y="16459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 1 : N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5897880" y="164592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7880" y="16459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 N : 1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00600" y="2788920"/>
            <a:ext cx="73152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800600" y="27889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0..1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897880" y="3840480"/>
            <a:ext cx="100584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0E9AA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897880" y="384048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by  1 : N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365760" y="3383280"/>
            <a:ext cx="301752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502920" y="3456432"/>
            <a:ext cx="2788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participation: Reservation (needs a customer and a car)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Car_Return (only after pickup), Payment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Schema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32004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2004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2976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license_no UNIQUE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05740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205740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205740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216712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model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reg_no UNIQUE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daily_rate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79476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3794760" y="1234440"/>
            <a:ext cx="1600200" cy="41148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79476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390448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due_date, status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53212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5532120" y="1234440"/>
            <a:ext cx="1600200" cy="411480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553212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64184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late_fee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damage_charge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7269480" y="1234440"/>
            <a:ext cx="1600200" cy="2468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Shape 23"/>
          <p:cNvSpPr/>
          <p:nvPr/>
        </p:nvSpPr>
        <p:spPr>
          <a:xfrm>
            <a:off x="7269480" y="1234440"/>
            <a:ext cx="1600200" cy="4114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26948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7379208" y="1783080"/>
            <a:ext cx="14173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payment_id PK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reservation_id FK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pay_date</a:t>
            </a:r>
            <a:endParaRPr lang="en-US" sz="11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365760" y="39319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keys: Reservation.customer_id &gt; Customer, Reservation.car_id &gt; Car, Car_Return.reservation_id &gt; Reservation, Payment.reservation_id &gt; Reservation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&amp; Constraints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40233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double booking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car cannot be reserved for overlapping dates. Checked before every insert; car status changes to Reserved / Rented.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188720"/>
            <a:ext cx="40233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06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return per reservation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75564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Car_Return.reservation_id is UNIQUE. A return can exist only after pickup.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265176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8" name="Shape 15"/>
          <p:cNvSpPr/>
          <p:nvPr/>
        </p:nvSpPr>
        <p:spPr>
          <a:xfrm>
            <a:off x="457200" y="2651760"/>
            <a:ext cx="4023360" cy="6400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customers only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594360" y="3218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needs a unique license_no. Reservation needs a valid customer_id and car_id (foreign keys).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663440" y="2651760"/>
            <a:ext cx="4023360" cy="13258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Shape 19"/>
          <p:cNvSpPr/>
          <p:nvPr/>
        </p:nvSpPr>
        <p:spPr>
          <a:xfrm>
            <a:off x="4663440" y="2651760"/>
            <a:ext cx="40233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4800600" y="281635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checks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4800600" y="3218688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daily_rate &gt; 0 and due_date &gt;= pickup_date. Payments of 1 or more per reservation (advance + final).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57200" y="4114800"/>
            <a:ext cx="8229600" cy="594360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640080" y="41148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= days x daily_rate + late_fee + damage_charge   |   late_fee = late days x daily_rate x 1.5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up to 3NF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| ER &amp; Schema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280160"/>
            <a:ext cx="2743200" cy="822960"/>
          </a:xfrm>
          <a:prstGeom prst="homePlate">
            <a:avLst/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values, no repeating groups. Each phone, date and fee is a single value.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3200400" y="1280160"/>
            <a:ext cx="2743200" cy="822960"/>
          </a:xfrm>
          <a:prstGeom prst="chevron">
            <a:avLst/>
          </a:prstGeom>
          <a:solidFill>
            <a:srgbClr val="FCA311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338328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329184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table has a single-column key, so no partial dependency is possible.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35040" y="1280160"/>
            <a:ext cx="2743200" cy="82296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6217920" y="1280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6126480" y="2331720"/>
            <a:ext cx="2468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dependency: car and customer details live only in their own tables.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3749040"/>
            <a:ext cx="8229600" cy="82296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85800" y="3749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storing customer name in Reservation would depend on customer_id, not the reservation key. We keep it in Customer to avoid that.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Table Creation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411480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1887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INT PRIMARY KEY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AUTO_INCREMENT,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 VARCHAR(50)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phone VARCHAR(15),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email VARCHAR(60),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license_no VARCHAR(20) UNIQUE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car_id INT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reg_no VARCHAR(15) UNIQUE,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daily_rate DECIMAL(8,2)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CHECK (daily_rate&gt;0));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4663440" y="1188720"/>
            <a:ext cx="4114800" cy="347472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Shape 13"/>
          <p:cNvSpPr/>
          <p:nvPr/>
        </p:nvSpPr>
        <p:spPr>
          <a:xfrm>
            <a:off x="4663440" y="11887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7" name="Shape 14"/>
          <p:cNvSpPr/>
          <p:nvPr/>
        </p:nvSpPr>
        <p:spPr>
          <a:xfrm>
            <a:off x="477316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495604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513892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846320" y="1554480"/>
            <a:ext cx="37490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reservation_id INT PRIMARY KEY,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customer_id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car_id INT NOT NULL,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pickup_date DATE,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due_date DATE,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VARCHAR(10),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(customer_id)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Customer(customer_id),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FOREIGN KEY (car_id)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REFERENCES Car(car_id),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CHECK (due_date&gt;=pickup_date)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&amp; SELECT Queries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4572000" cy="1097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" y="1188720"/>
            <a:ext cx="45720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" y="1261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9"/>
          <p:cNvSpPr/>
          <p:nvPr/>
        </p:nvSpPr>
        <p:spPr>
          <a:xfrm>
            <a:off x="658368" y="1261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0"/>
          <p:cNvSpPr/>
          <p:nvPr/>
        </p:nvSpPr>
        <p:spPr>
          <a:xfrm>
            <a:off x="841248" y="1261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4864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min. 5 records per table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</a:t>
            </a: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VALUES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(1,'Swift','TS09AB1234',1800);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65760" y="2423160"/>
            <a:ext cx="4572000" cy="228600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6" name="Shape 13"/>
          <p:cNvSpPr/>
          <p:nvPr/>
        </p:nvSpPr>
        <p:spPr>
          <a:xfrm>
            <a:off x="365760" y="2423160"/>
            <a:ext cx="45720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7" name="Shape 14"/>
          <p:cNvSpPr/>
          <p:nvPr/>
        </p:nvSpPr>
        <p:spPr>
          <a:xfrm>
            <a:off x="475488" y="249631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8" name="Shape 15"/>
          <p:cNvSpPr/>
          <p:nvPr/>
        </p:nvSpPr>
        <p:spPr>
          <a:xfrm>
            <a:off x="658368" y="249631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" y="249631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548640" y="2788920"/>
            <a:ext cx="4206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JOIN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car.reg_no, r.due_date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r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 USING(customer_id)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USING(car_id)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r.status='Active';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AGGREGATE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car_id, SUM(amount)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GROUP BY car_id;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output (replace with your real result)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20640" y="1508760"/>
          <a:ext cx="365760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reg_no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TS09AB1234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TS10CD5678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2026-10-09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TS08EF9012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2026-10-12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3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19"/>
          <p:cNvSpPr/>
          <p:nvPr/>
        </p:nvSpPr>
        <p:spPr>
          <a:xfrm>
            <a:off x="5120640" y="3108960"/>
            <a:ext cx="36576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0"/>
          <p:cNvSpPr/>
          <p:nvPr/>
        </p:nvSpPr>
        <p:spPr>
          <a:xfrm>
            <a:off x="5120640" y="3108960"/>
            <a:ext cx="365760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5257800" y="3273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show live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5257800" y="36758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database, tables, inserts, then joins and aggregates (COUNT, SUM, GROUP BY).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Queries We Run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 the rental shop asks, answered with SQL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65760" y="1417320"/>
            <a:ext cx="4114800" cy="1554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1" name="Shape 8"/>
          <p:cNvSpPr/>
          <p:nvPr/>
        </p:nvSpPr>
        <p:spPr>
          <a:xfrm>
            <a:off x="365760" y="14173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2" name="Shape 9"/>
          <p:cNvSpPr/>
          <p:nvPr/>
        </p:nvSpPr>
        <p:spPr>
          <a:xfrm>
            <a:off x="475488" y="14904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3" name="Shape 10"/>
          <p:cNvSpPr/>
          <p:nvPr/>
        </p:nvSpPr>
        <p:spPr>
          <a:xfrm>
            <a:off x="658368" y="14904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4" name="Shape 11"/>
          <p:cNvSpPr/>
          <p:nvPr/>
        </p:nvSpPr>
        <p:spPr>
          <a:xfrm>
            <a:off x="841248" y="14904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4864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-- 1. Cars available now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</a:t>
            </a: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WHERE status='Available';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-- 2. Overdue rentals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reservation_id FROM Reservation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due_date&lt;CURDATE() AND status='Active';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4663440" y="1417320"/>
            <a:ext cx="4114800" cy="15544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17" name="Shape 14"/>
          <p:cNvSpPr/>
          <p:nvPr/>
        </p:nvSpPr>
        <p:spPr>
          <a:xfrm>
            <a:off x="4663440" y="141732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18" name="Shape 15"/>
          <p:cNvSpPr/>
          <p:nvPr/>
        </p:nvSpPr>
        <p:spPr>
          <a:xfrm>
            <a:off x="4773168" y="14904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9" name="Shape 16"/>
          <p:cNvSpPr/>
          <p:nvPr/>
        </p:nvSpPr>
        <p:spPr>
          <a:xfrm>
            <a:off x="4956048" y="14904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0" name="Shape 17"/>
          <p:cNvSpPr/>
          <p:nvPr/>
        </p:nvSpPr>
        <p:spPr>
          <a:xfrm>
            <a:off x="5138928" y="14904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4846320" y="178308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-- 3. Top customers by spend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c.name, SUM(p.amount) AS spent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 c JOIN Reservation r USING(customer_id)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Payment p USING(reservation_id)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c.name </a:t>
            </a: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spent DESC;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365760" y="3063240"/>
            <a:ext cx="4114800" cy="169164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3" name="Shape 20"/>
          <p:cNvSpPr/>
          <p:nvPr/>
        </p:nvSpPr>
        <p:spPr>
          <a:xfrm>
            <a:off x="365760" y="3063240"/>
            <a:ext cx="411480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24" name="Shape 21"/>
          <p:cNvSpPr/>
          <p:nvPr/>
        </p:nvSpPr>
        <p:spPr>
          <a:xfrm>
            <a:off x="475488" y="313639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5" name="Shape 22"/>
          <p:cNvSpPr/>
          <p:nvPr/>
        </p:nvSpPr>
        <p:spPr>
          <a:xfrm>
            <a:off x="658368" y="313639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6" name="Shape 23"/>
          <p:cNvSpPr/>
          <p:nvPr/>
        </p:nvSpPr>
        <p:spPr>
          <a:xfrm>
            <a:off x="841248" y="313639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548640" y="342900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-- 4. Average rental length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AVG(DATEDIFF(due_date,pickup_date))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F8F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-- 5. Cars never rented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model FROM Car</a:t>
            </a:r>
            <a:endParaRPr lang="en-US" sz="950" dirty="0"/>
          </a:p>
          <a:p>
            <a:pPr marL="0" indent="0">
              <a:buNone/>
            </a:pPr>
            <a:r>
              <a:rPr lang="en-US" sz="95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</a:t>
            </a: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car_id NOT IN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(SELECT car_id FROM Reservation);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63440" y="3108960"/>
            <a:ext cx="4114800" cy="15544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9" name="Shape 26"/>
          <p:cNvSpPr/>
          <p:nvPr/>
        </p:nvSpPr>
        <p:spPr>
          <a:xfrm>
            <a:off x="4663440" y="3108960"/>
            <a:ext cx="411480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4800600" y="3273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covered</a:t>
            </a:r>
            <a:endParaRPr lang="en-US" sz="15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3675888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(inner), GROUP BY, ORDER BY, SUM, AVG, COUNT, DATEDIFF, subquery (NOT IN), WHERE filters.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Reports: What the Data Tells Us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| Database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5720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E9A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48,600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87452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187452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187452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Rentals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1188720"/>
            <a:ext cx="1325880" cy="914400"/>
          </a:xfrm>
          <a:prstGeom prst="roundRect">
            <a:avLst/>
          </a:prstGeom>
          <a:solidFill>
            <a:srgbClr val="F1F5F9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3291840" y="1261872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291840" y="17373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Returns</a:t>
            </a:r>
            <a:endParaRPr lang="en-US" sz="10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663440" y="1097280"/>
          <a:ext cx="411480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Shape 15"/>
          <p:cNvSpPr/>
          <p:nvPr/>
        </p:nvSpPr>
        <p:spPr>
          <a:xfrm>
            <a:off x="457200" y="2331720"/>
            <a:ext cx="4023360" cy="2240280"/>
          </a:xfrm>
          <a:prstGeom prst="rect">
            <a:avLst/>
          </a:prstGeom>
          <a:solidFill>
            <a:srgbClr val="1E1E2E"/>
          </a:solidFill>
          <a:ln/>
        </p:spPr>
      </p:sp>
      <p:sp>
        <p:nvSpPr>
          <p:cNvPr id="20" name="Shape 16"/>
          <p:cNvSpPr/>
          <p:nvPr/>
        </p:nvSpPr>
        <p:spPr>
          <a:xfrm>
            <a:off x="457200" y="2331720"/>
            <a:ext cx="4023360" cy="256032"/>
          </a:xfrm>
          <a:prstGeom prst="rect">
            <a:avLst/>
          </a:prstGeom>
          <a:solidFill>
            <a:srgbClr val="2B2B40"/>
          </a:solidFill>
          <a:ln/>
        </p:spPr>
      </p:sp>
      <p:sp>
        <p:nvSpPr>
          <p:cNvPr id="21" name="Shape 17"/>
          <p:cNvSpPr/>
          <p:nvPr/>
        </p:nvSpPr>
        <p:spPr>
          <a:xfrm>
            <a:off x="566928" y="2404872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22" name="Shape 18"/>
          <p:cNvSpPr/>
          <p:nvPr/>
        </p:nvSpPr>
        <p:spPr>
          <a:xfrm>
            <a:off x="749808" y="2404872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23" name="Shape 19"/>
          <p:cNvSpPr/>
          <p:nvPr/>
        </p:nvSpPr>
        <p:spPr>
          <a:xfrm>
            <a:off x="932688" y="2404872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640080" y="26974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car.model, SUM(p.amount)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Payment p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Reservation r USING(reservation_id)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 car USING(car_id)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car.model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FFB8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</a:t>
            </a:r>
            <a:r>
              <a:rPr lang="en-US" sz="10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SUM(p.amount) DESC;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Demo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6576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65760" y="1188720"/>
            <a:ext cx="2651760" cy="457200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Insert: New Reservation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59436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Ravi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9436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Car: Swift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0292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Pickup: 04-10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292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59436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Due: 08-10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1097280" y="3657600"/>
            <a:ext cx="1188720" cy="329184"/>
          </a:xfrm>
          <a:prstGeom prst="roundRect">
            <a:avLst/>
          </a:prstGeom>
          <a:solidFill>
            <a:srgbClr val="0E9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9728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0040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200400" y="1188720"/>
            <a:ext cx="265176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329184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Cancel Reservation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33756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3"/>
          <p:cNvSpPr txBox="1"/>
          <p:nvPr/>
        </p:nvSpPr>
        <p:spPr>
          <a:xfrm>
            <a:off x="342900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1004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33756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342900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Customer: Anita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333756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342900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Active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33756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342900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3931920" y="3657600"/>
            <a:ext cx="1188720" cy="329184"/>
          </a:xfrm>
          <a:prstGeom prst="roundRect">
            <a:avLst/>
          </a:prstGeom>
          <a:solidFill>
            <a:srgbClr val="E63946"/>
          </a:solidFill>
          <a:ln/>
        </p:spPr>
      </p:sp>
      <p:sp>
        <p:nvSpPr>
          <p:cNvPr id="34" name="Text 31"/>
          <p:cNvSpPr txBox="1"/>
          <p:nvPr/>
        </p:nvSpPr>
        <p:spPr>
          <a:xfrm>
            <a:off x="393192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035040" y="1188720"/>
            <a:ext cx="2651760" cy="2926080"/>
          </a:xfrm>
          <a:prstGeom prst="rect">
            <a:avLst/>
          </a:prstGeom>
          <a:solidFill>
            <a:srgbClr val="FFFFFF"/>
          </a:solidFill>
          <a:ln w="15875">
            <a:solidFill>
              <a:srgbClr val="CCD3D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6126480" y="11887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View: All Reservations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6172200" y="17830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39" name="Text 36"/>
          <p:cNvSpPr txBox="1"/>
          <p:nvPr/>
        </p:nvSpPr>
        <p:spPr>
          <a:xfrm>
            <a:off x="6263640" y="17830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1001  Ravi   Active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172200" y="22402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6263640" y="2240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1002  Anita  Returned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172200" y="26974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3" name="Text 40"/>
          <p:cNvSpPr txBox="1"/>
          <p:nvPr/>
        </p:nvSpPr>
        <p:spPr>
          <a:xfrm>
            <a:off x="6263640" y="26974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1003  Kiran  Active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172200" y="3154680"/>
            <a:ext cx="2377440" cy="3657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5" name="Text 42"/>
          <p:cNvSpPr txBox="1"/>
          <p:nvPr/>
        </p:nvSpPr>
        <p:spPr>
          <a:xfrm>
            <a:off x="6263640" y="3154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1004  Sana   Active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6766560" y="3657600"/>
            <a:ext cx="1188720" cy="329184"/>
          </a:xfrm>
          <a:prstGeom prst="roundRect">
            <a:avLst/>
          </a:prstGeom>
          <a:solidFill>
            <a:srgbClr val="14213D"/>
          </a:solidFill>
          <a:ln/>
        </p:spPr>
      </p:sp>
      <p:sp>
        <p:nvSpPr>
          <p:cNvPr id="47" name="Text 44"/>
          <p:cNvSpPr txBox="1"/>
          <p:nvPr/>
        </p:nvSpPr>
        <p:spPr>
          <a:xfrm>
            <a:off x="6766560" y="365760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365760" y="4343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Placeholder mockups: replace with your real screenshots. Every change is shown live in MySQL.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Rental Workflow &amp; Tech Stack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|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0040" y="1234440"/>
            <a:ext cx="1783080" cy="777240"/>
          </a:xfrm>
          <a:prstGeom prst="homePlate">
            <a:avLst/>
          </a:prstGeom>
          <a:solidFill>
            <a:srgbClr val="0E9AA7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54864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Cars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057400" y="1234440"/>
            <a:ext cx="1783080" cy="77724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228600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794760" y="1234440"/>
            <a:ext cx="1783080" cy="777240"/>
          </a:xfrm>
          <a:prstGeom prst="chevron">
            <a:avLst/>
          </a:prstGeom>
          <a:solidFill>
            <a:srgbClr val="0E9AA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02336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532120" y="1234440"/>
            <a:ext cx="1783080" cy="777240"/>
          </a:xfrm>
          <a:prstGeom prst="chevron">
            <a:avLst/>
          </a:prstGeom>
          <a:solidFill>
            <a:srgbClr val="FCA311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76072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269480" y="1234440"/>
            <a:ext cx="1783080" cy="777240"/>
          </a:xfrm>
          <a:prstGeom prst="chevron">
            <a:avLst/>
          </a:prstGeom>
          <a:solidFill>
            <a:srgbClr val="14213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498080" y="123444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5720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0" name="Shape 17"/>
          <p:cNvSpPr/>
          <p:nvPr/>
        </p:nvSpPr>
        <p:spPr>
          <a:xfrm>
            <a:off x="457200" y="2560320"/>
            <a:ext cx="265176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9436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9436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329184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4" name="Shape 21"/>
          <p:cNvSpPr/>
          <p:nvPr/>
        </p:nvSpPr>
        <p:spPr>
          <a:xfrm>
            <a:off x="3291840" y="2560320"/>
            <a:ext cx="26517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42900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342900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UI: Python / Java / Web)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126480" y="2560320"/>
            <a:ext cx="2651760" cy="13716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8" name="Shape 25"/>
          <p:cNvSpPr/>
          <p:nvPr/>
        </p:nvSpPr>
        <p:spPr>
          <a:xfrm>
            <a:off x="6126480" y="2560320"/>
            <a:ext cx="2651760" cy="64008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263640" y="272491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</a:t>
            </a:r>
            <a:endParaRPr lang="en-US" sz="1500" dirty="0"/>
          </a:p>
        </p:txBody>
      </p:sp>
      <p:sp>
        <p:nvSpPr>
          <p:cNvPr id="30" name="Text 27"/>
          <p:cNvSpPr txBox="1"/>
          <p:nvPr/>
        </p:nvSpPr>
        <p:spPr>
          <a:xfrm>
            <a:off x="6263640" y="3127248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driver, e.g. mysql-connector)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the tech-stack cards to match what your group used.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68680"/>
            <a:ext cx="9144000" cy="54864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91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0" y="914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FD8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503920" y="155448"/>
            <a:ext cx="548640" cy="548640"/>
          </a:xfrm>
          <a:prstGeom prst="ellipse">
            <a:avLst/>
          </a:prstGeom>
          <a:solidFill>
            <a:srgbClr val="0E9AA7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48" y="265176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50392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5A64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57200" y="1188720"/>
            <a:ext cx="393192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" y="1188720"/>
            <a:ext cx="3931920" cy="64008"/>
          </a:xfrm>
          <a:prstGeom prst="rect">
            <a:avLst/>
          </a:prstGeom>
          <a:solidFill>
            <a:srgbClr val="0E9AA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594360" y="1353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achieved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1755648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Normalized 3NF schema, 5 tables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Constraints prevent bad 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Join and aggregate reports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Working UI: insert, delete, view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663440" y="1188720"/>
            <a:ext cx="4023360" cy="274320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Shape 11"/>
          <p:cNvSpPr/>
          <p:nvPr/>
        </p:nvSpPr>
        <p:spPr>
          <a:xfrm>
            <a:off x="4663440" y="1188720"/>
            <a:ext cx="4023360" cy="64008"/>
          </a:xfrm>
          <a:prstGeom prst="rect">
            <a:avLst/>
          </a:prstGeom>
          <a:solidFill>
            <a:srgbClr val="FCA31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800600" y="135331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800600" y="1755648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Online payment gateway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Email / SMS reminders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Role-based login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Revenue dashboard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N. Varshith  |  Mohammed Sharjeel  |  M. Vishnu Vivekananth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914400"/>
            <a:ext cx="4114800" cy="4114800"/>
          </a:xfrm>
          <a:prstGeom prst="ellipse">
            <a:avLst/>
          </a:prstGeom>
          <a:solidFill>
            <a:srgbClr val="1B2E57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0E9AA7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5544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CA3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1672</Words>
  <Application>Microsoft Office PowerPoint</Application>
  <PresentationFormat>On-screen Show (16:9)</PresentationFormat>
  <Paragraphs>355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Varshith Nukala</cp:lastModifiedBy>
  <cp:revision>1</cp:revision>
  <dcterms:created xsi:type="dcterms:W3CDTF">2026-10-04T11:15:17Z</dcterms:created>
  <dcterms:modified xsi:type="dcterms:W3CDTF">2026-10-04T11:16:42Z</dcterms:modified>
</cp:coreProperties>
</file>